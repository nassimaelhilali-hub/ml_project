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Body Grotesque Bold" panose="020B0604020202020204" charset="0"/>
      <p:regular r:id="rId23"/>
    </p:embeddedFont>
    <p:embeddedFont>
      <p:font typeface="Body Grotesque Italics" panose="020B0604020202020204" charset="0"/>
      <p:regular r:id="rId24"/>
    </p:embeddedFont>
    <p:embeddedFont>
      <p:font typeface="Bricolage Grotesque 28" panose="020B0604020202020204" charset="0"/>
      <p:regular r:id="rId25"/>
    </p:embeddedFont>
    <p:embeddedFont>
      <p:font typeface="Open Sans" panose="020B0606030504020204" pitchFamily="34" charset="0"/>
      <p:regular r:id="rId26"/>
    </p:embeddedFont>
    <p:embeddedFont>
      <p:font typeface="Open Sans Bold" panose="020B0806030504020204" charset="0"/>
      <p:regular r:id="rId27"/>
    </p:embeddedFont>
    <p:embeddedFont>
      <p:font typeface="Radley" panose="020B0604020202020204" charset="0"/>
      <p:regular r:id="rId28"/>
    </p:embeddedFont>
    <p:embeddedFont>
      <p:font typeface="Roboto" panose="02000000000000000000" pitchFamily="2" charset="0"/>
      <p:regular r:id="rId29"/>
    </p:embeddedFont>
    <p:embeddedFont>
      <p:font typeface="Roboto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9610" autoAdjust="0"/>
  </p:normalViewPr>
  <p:slideViewPr>
    <p:cSldViewPr>
      <p:cViewPr varScale="1">
        <p:scale>
          <a:sx n="39" d="100"/>
          <a:sy n="39" d="100"/>
        </p:scale>
        <p:origin x="94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Ici, on compare la baseline avec l’augmentation par flip horizontal.</a:t>
            </a:r>
          </a:p>
          <a:p>
            <a:r>
              <a:rPr lang="en-US"/>
              <a:t>On constate que les courbes de perte d’entraînement et de validation évoluent de façon similaire entre les deux modèles.</a:t>
            </a:r>
          </a:p>
          <a:p>
            <a:r>
              <a:rPr lang="en-US"/>
              <a:t>L’accuracy de validation augmente légèrement, et l’accuracy finale sur le jeu de test progresse de 1% (23% contre 22%).</a:t>
            </a:r>
          </a:p>
          <a:p>
            <a:r>
              <a:rPr lang="en-US"/>
              <a:t>Cela indique que, dans notre contexte et avec un dataset limité, le retournement horizontal apporte une légère diversité supplémentaire, mais son effet reste modéré sur la capacité du modèle à mieux généraliser.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2.svg"/><Relationship Id="rId9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svg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svg"/><Relationship Id="rId7" Type="http://schemas.openxmlformats.org/officeDocument/2006/relationships/image" Target="../media/image3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91380" y="3144141"/>
            <a:ext cx="11905240" cy="3998717"/>
            <a:chOff x="0" y="0"/>
            <a:chExt cx="15873653" cy="5331623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"/>
              <a:ext cx="15873653" cy="3005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775"/>
                </a:lnSpc>
              </a:pPr>
              <a:r>
                <a:rPr lang="en-US" sz="10775">
                  <a:solidFill>
                    <a:srgbClr val="D49E26"/>
                  </a:solidFill>
                  <a:latin typeface="Radley"/>
                  <a:ea typeface="Radley"/>
                  <a:cs typeface="Radley"/>
                  <a:sym typeface="Radley"/>
                </a:rPr>
                <a:t>Data augmentation</a:t>
              </a:r>
            </a:p>
            <a:p>
              <a:pPr algn="ctr">
                <a:lnSpc>
                  <a:spcPts val="6576"/>
                </a:lnSpc>
              </a:pPr>
              <a:r>
                <a:rPr lang="en-US" sz="6576">
                  <a:solidFill>
                    <a:srgbClr val="D49E26"/>
                  </a:solidFill>
                  <a:latin typeface="Radley"/>
                  <a:ea typeface="Radley"/>
                  <a:cs typeface="Radley"/>
                  <a:sym typeface="Radley"/>
                </a:rPr>
                <a:t>appliquée aux images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093373"/>
              <a:ext cx="15873653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spc="89">
                  <a:solidFill>
                    <a:srgbClr val="665D5A"/>
                  </a:solidFill>
                  <a:latin typeface="Roboto"/>
                  <a:ea typeface="Roboto"/>
                  <a:cs typeface="Roboto"/>
                  <a:sym typeface="Roboto"/>
                </a:rPr>
                <a:t>Cours d’Automne - Nassima, Fabrice, Maéva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spc="89">
                  <a:solidFill>
                    <a:srgbClr val="665D5A"/>
                  </a:solidFill>
                  <a:latin typeface="Roboto"/>
                  <a:ea typeface="Roboto"/>
                  <a:cs typeface="Roboto"/>
                  <a:sym typeface="Roboto"/>
                </a:rPr>
                <a:t>21 novembre 2025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3337941" y="5086872"/>
            <a:ext cx="7284632" cy="5946909"/>
          </a:xfrm>
          <a:custGeom>
            <a:avLst/>
            <a:gdLst/>
            <a:ahLst/>
            <a:cxnLst/>
            <a:rect l="l" t="t" r="r" b="b"/>
            <a:pathLst>
              <a:path w="7284632" h="5946909">
                <a:moveTo>
                  <a:pt x="0" y="0"/>
                </a:moveTo>
                <a:lnTo>
                  <a:pt x="7284632" y="0"/>
                </a:lnTo>
                <a:lnTo>
                  <a:pt x="7284632" y="5946909"/>
                </a:lnTo>
                <a:lnTo>
                  <a:pt x="0" y="59469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5400000">
            <a:off x="-2966719" y="-1029396"/>
            <a:ext cx="8536036" cy="6968510"/>
          </a:xfrm>
          <a:custGeom>
            <a:avLst/>
            <a:gdLst/>
            <a:ahLst/>
            <a:cxnLst/>
            <a:rect l="l" t="t" r="r" b="b"/>
            <a:pathLst>
              <a:path w="8536036" h="6968510">
                <a:moveTo>
                  <a:pt x="0" y="0"/>
                </a:moveTo>
                <a:lnTo>
                  <a:pt x="8536037" y="0"/>
                </a:lnTo>
                <a:lnTo>
                  <a:pt x="8536037" y="6968510"/>
                </a:lnTo>
                <a:lnTo>
                  <a:pt x="0" y="6968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 rot="-6495484">
            <a:off x="-1952676" y="5701556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 rot="4700908">
            <a:off x="13301167" y="2610905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-598478" y="8688874"/>
            <a:ext cx="5845488" cy="1476755"/>
          </a:xfrm>
          <a:custGeom>
            <a:avLst/>
            <a:gdLst/>
            <a:ahLst/>
            <a:cxnLst/>
            <a:rect l="l" t="t" r="r" b="b"/>
            <a:pathLst>
              <a:path w="5845488" h="1476755">
                <a:moveTo>
                  <a:pt x="0" y="0"/>
                </a:moveTo>
                <a:lnTo>
                  <a:pt x="5845488" y="0"/>
                </a:lnTo>
                <a:lnTo>
                  <a:pt x="5845488" y="1476755"/>
                </a:lnTo>
                <a:lnTo>
                  <a:pt x="0" y="14767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7460" y="7741862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4" y="0"/>
                </a:lnTo>
                <a:lnTo>
                  <a:pt x="6235304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10800000">
            <a:off x="13518549" y="-2545138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5" y="0"/>
                </a:lnTo>
                <a:lnTo>
                  <a:pt x="6235305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4700908">
            <a:off x="13422610" y="-494605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 rot="-6495484">
            <a:off x="-2297605" y="9613635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7857527" y="1485342"/>
            <a:ext cx="2572945" cy="133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90"/>
              </a:lnSpc>
              <a:spcBef>
                <a:spcPct val="0"/>
              </a:spcBef>
            </a:pPr>
            <a:r>
              <a:rPr lang="en-US" sz="10090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83144" y="4053074"/>
            <a:ext cx="1012486" cy="573013"/>
            <a:chOff x="0" y="0"/>
            <a:chExt cx="266663" cy="150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61741" y="4043549"/>
            <a:ext cx="4810804" cy="592063"/>
            <a:chOff x="0" y="0"/>
            <a:chExt cx="914387" cy="1125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i="1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Introduction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3144" y="5357670"/>
            <a:ext cx="1012486" cy="573013"/>
            <a:chOff x="0" y="0"/>
            <a:chExt cx="266663" cy="1509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61741" y="5348145"/>
            <a:ext cx="4810804" cy="592063"/>
            <a:chOff x="0" y="0"/>
            <a:chExt cx="914387" cy="1125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 u="none" strike="noStrike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Méthodologie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83144" y="6664108"/>
            <a:ext cx="1012486" cy="573013"/>
            <a:chOff x="0" y="0"/>
            <a:chExt cx="266663" cy="1509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261741" y="6654583"/>
            <a:ext cx="4810804" cy="592063"/>
            <a:chOff x="0" y="0"/>
            <a:chExt cx="914387" cy="1125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 u="none" strike="noStrike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Illustration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74528" y="4053074"/>
            <a:ext cx="1012486" cy="573013"/>
            <a:chOff x="0" y="0"/>
            <a:chExt cx="266663" cy="1509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453125" y="4043549"/>
            <a:ext cx="4810804" cy="592063"/>
            <a:chOff x="0" y="0"/>
            <a:chExt cx="914387" cy="11253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 u="none" strike="noStrike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Ancrage en sciences du vivant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74528" y="5357670"/>
            <a:ext cx="1012486" cy="573013"/>
            <a:chOff x="0" y="0"/>
            <a:chExt cx="266663" cy="15091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05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53125" y="5348145"/>
            <a:ext cx="4810804" cy="592063"/>
            <a:chOff x="0" y="0"/>
            <a:chExt cx="914387" cy="1125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 u="none" strike="noStrike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Conclusion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174528" y="6664108"/>
            <a:ext cx="1012486" cy="573013"/>
            <a:chOff x="0" y="0"/>
            <a:chExt cx="266663" cy="15091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66663" cy="150917"/>
            </a:xfrm>
            <a:custGeom>
              <a:avLst/>
              <a:gdLst/>
              <a:ahLst/>
              <a:cxnLst/>
              <a:rect l="l" t="t" r="r" b="b"/>
              <a:pathLst>
                <a:path w="266663" h="150917">
                  <a:moveTo>
                    <a:pt x="75458" y="0"/>
                  </a:moveTo>
                  <a:lnTo>
                    <a:pt x="191204" y="0"/>
                  </a:lnTo>
                  <a:cubicBezTo>
                    <a:pt x="232879" y="0"/>
                    <a:pt x="266663" y="33784"/>
                    <a:pt x="266663" y="75458"/>
                  </a:cubicBezTo>
                  <a:lnTo>
                    <a:pt x="266663" y="75458"/>
                  </a:lnTo>
                  <a:cubicBezTo>
                    <a:pt x="266663" y="95471"/>
                    <a:pt x="258713" y="114664"/>
                    <a:pt x="244562" y="128816"/>
                  </a:cubicBezTo>
                  <a:cubicBezTo>
                    <a:pt x="230410" y="142967"/>
                    <a:pt x="211217" y="150917"/>
                    <a:pt x="191204" y="150917"/>
                  </a:cubicBezTo>
                  <a:lnTo>
                    <a:pt x="75458" y="150917"/>
                  </a:lnTo>
                  <a:cubicBezTo>
                    <a:pt x="55446" y="150917"/>
                    <a:pt x="36252" y="142967"/>
                    <a:pt x="22101" y="128816"/>
                  </a:cubicBezTo>
                  <a:cubicBezTo>
                    <a:pt x="7950" y="114664"/>
                    <a:pt x="0" y="95471"/>
                    <a:pt x="0" y="75458"/>
                  </a:cubicBezTo>
                  <a:lnTo>
                    <a:pt x="0" y="75458"/>
                  </a:lnTo>
                  <a:cubicBezTo>
                    <a:pt x="0" y="55446"/>
                    <a:pt x="7950" y="36252"/>
                    <a:pt x="22101" y="22101"/>
                  </a:cubicBezTo>
                  <a:cubicBezTo>
                    <a:pt x="36252" y="7950"/>
                    <a:pt x="55446" y="0"/>
                    <a:pt x="75458" y="0"/>
                  </a:cubicBezTo>
                  <a:close/>
                </a:path>
              </a:pathLst>
            </a:custGeom>
            <a:solidFill>
              <a:srgbClr val="D49E2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66663" cy="1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665D5A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06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453125" y="6654583"/>
            <a:ext cx="4810804" cy="592063"/>
            <a:chOff x="0" y="0"/>
            <a:chExt cx="914387" cy="11253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387" cy="112533"/>
            </a:xfrm>
            <a:custGeom>
              <a:avLst/>
              <a:gdLst/>
              <a:ahLst/>
              <a:cxnLst/>
              <a:rect l="l" t="t" r="r" b="b"/>
              <a:pathLst>
                <a:path w="914387" h="112533">
                  <a:moveTo>
                    <a:pt x="56267" y="0"/>
                  </a:moveTo>
                  <a:lnTo>
                    <a:pt x="858120" y="0"/>
                  </a:lnTo>
                  <a:cubicBezTo>
                    <a:pt x="889195" y="0"/>
                    <a:pt x="914387" y="25191"/>
                    <a:pt x="914387" y="56267"/>
                  </a:cubicBezTo>
                  <a:lnTo>
                    <a:pt x="914387" y="56267"/>
                  </a:lnTo>
                  <a:cubicBezTo>
                    <a:pt x="914387" y="71189"/>
                    <a:pt x="908459" y="85501"/>
                    <a:pt x="897907" y="96053"/>
                  </a:cubicBezTo>
                  <a:cubicBezTo>
                    <a:pt x="887355" y="106605"/>
                    <a:pt x="873043" y="112533"/>
                    <a:pt x="858120" y="112533"/>
                  </a:cubicBezTo>
                  <a:lnTo>
                    <a:pt x="56267" y="112533"/>
                  </a:lnTo>
                  <a:cubicBezTo>
                    <a:pt x="41344" y="112533"/>
                    <a:pt x="27032" y="106605"/>
                    <a:pt x="16480" y="96053"/>
                  </a:cubicBezTo>
                  <a:cubicBezTo>
                    <a:pt x="5928" y="85501"/>
                    <a:pt x="0" y="71189"/>
                    <a:pt x="0" y="56267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14387" cy="1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 u="none" strike="noStrike">
                  <a:solidFill>
                    <a:srgbClr val="665D5A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Ouverture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201157" y="2611813"/>
            <a:ext cx="3885687" cy="48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700" spc="-185">
                <a:solidFill>
                  <a:srgbClr val="D49E26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de la présentation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1554" y="-3213685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4" y="0"/>
                </a:lnTo>
                <a:lnTo>
                  <a:pt x="6235304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6495484">
            <a:off x="-1962992" y="-1880488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1328900" y="1876591"/>
            <a:ext cx="5161328" cy="7741991"/>
          </a:xfrm>
          <a:custGeom>
            <a:avLst/>
            <a:gdLst/>
            <a:ahLst/>
            <a:cxnLst/>
            <a:rect l="l" t="t" r="r" b="b"/>
            <a:pathLst>
              <a:path w="5161328" h="7741991">
                <a:moveTo>
                  <a:pt x="0" y="0"/>
                </a:moveTo>
                <a:lnTo>
                  <a:pt x="5161328" y="0"/>
                </a:lnTo>
                <a:lnTo>
                  <a:pt x="5161328" y="7741991"/>
                </a:lnTo>
                <a:lnTo>
                  <a:pt x="0" y="7741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836723" y="2865774"/>
            <a:ext cx="4803505" cy="86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8"/>
              </a:lnSpc>
            </a:pPr>
            <a:r>
              <a:rPr lang="en-US" sz="6498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Méthodologie      -      lllustration      -       Ancrage      -    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8103" y="4578669"/>
            <a:ext cx="8049395" cy="375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573" lvl="1" indent="-336287" algn="l">
              <a:lnSpc>
                <a:spcPts val="3738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ML + classification d’images = besoin de beaucoup de données</a:t>
            </a:r>
          </a:p>
          <a:p>
            <a:pPr marL="672573" lvl="1" indent="-336287" algn="l">
              <a:lnSpc>
                <a:spcPts val="3738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Data augmentation → augmente la diversité → limite overfitting</a:t>
            </a:r>
          </a:p>
          <a:p>
            <a:pPr marL="672573" lvl="1" indent="-336287" algn="l">
              <a:lnSpc>
                <a:spcPts val="3738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Dataset utilisé : Animals-10 (10 classes)</a:t>
            </a:r>
          </a:p>
          <a:p>
            <a:pPr marL="672573" lvl="1" indent="-336287" algn="l">
              <a:lnSpc>
                <a:spcPts val="3738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Objectif → tester 3 méthodes et comparer leurs performances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72727" y="8013183"/>
            <a:ext cx="5570599" cy="4547634"/>
          </a:xfrm>
          <a:custGeom>
            <a:avLst/>
            <a:gdLst/>
            <a:ahLst/>
            <a:cxnLst/>
            <a:rect l="l" t="t" r="r" b="b"/>
            <a:pathLst>
              <a:path w="5570599" h="4547634">
                <a:moveTo>
                  <a:pt x="5570599" y="0"/>
                </a:moveTo>
                <a:lnTo>
                  <a:pt x="0" y="0"/>
                </a:lnTo>
                <a:lnTo>
                  <a:pt x="0" y="4547634"/>
                </a:lnTo>
                <a:lnTo>
                  <a:pt x="5570599" y="4547634"/>
                </a:lnTo>
                <a:lnTo>
                  <a:pt x="5570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5365908" y="8530490"/>
            <a:ext cx="5598538" cy="1455620"/>
          </a:xfrm>
          <a:custGeom>
            <a:avLst/>
            <a:gdLst/>
            <a:ahLst/>
            <a:cxnLst/>
            <a:rect l="l" t="t" r="r" b="b"/>
            <a:pathLst>
              <a:path w="5598538" h="1455620">
                <a:moveTo>
                  <a:pt x="0" y="0"/>
                </a:moveTo>
                <a:lnTo>
                  <a:pt x="5598538" y="0"/>
                </a:lnTo>
                <a:lnTo>
                  <a:pt x="5598538" y="1455620"/>
                </a:lnTo>
                <a:lnTo>
                  <a:pt x="0" y="145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672828" y="6204683"/>
            <a:ext cx="223912" cy="230538"/>
          </a:xfrm>
          <a:custGeom>
            <a:avLst/>
            <a:gdLst/>
            <a:ahLst/>
            <a:cxnLst/>
            <a:rect l="l" t="t" r="r" b="b"/>
            <a:pathLst>
              <a:path w="223912" h="230538">
                <a:moveTo>
                  <a:pt x="0" y="0"/>
                </a:moveTo>
                <a:lnTo>
                  <a:pt x="223912" y="0"/>
                </a:lnTo>
                <a:lnTo>
                  <a:pt x="223912" y="230539"/>
                </a:lnTo>
                <a:lnTo>
                  <a:pt x="0" y="2305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584" r="-641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805267" y="1546342"/>
            <a:ext cx="3669461" cy="4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Méthodologie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lllustration      -       Ancrage      -    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1740" y="2247721"/>
            <a:ext cx="89231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Dépend de la 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nature des données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(images, texte, etc.).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5690" y="3386222"/>
            <a:ext cx="12508073" cy="180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Historiquement, la DA a été appliquée aux tâches de vision par ordinateur (Computer Vision) : 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Classification d'images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: Attribuer une étiquette à une image.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Détection d'objets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: Identifier et localiser des objets spécifiques dans une image.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Segmentation d'images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: Diviser une image en différentes zones ou objets distincts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5690" y="2957597"/>
            <a:ext cx="414582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74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Augmentation d’images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1025" y="6638405"/>
            <a:ext cx="8274641" cy="134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Les méthodes qui transforment l'image originale en conservant son son étiquette (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label-preserving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), c'est-à-dire que l'image modifiée conserve le même label de classification que l'original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0075" y="8088979"/>
            <a:ext cx="8274641" cy="180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Transformations géométriques, 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Transformations de l'espace couleur, 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Filtres à noyau, 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Effacement aléatoire.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5225" y="6105005"/>
            <a:ext cx="593851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Déformation des données (</a:t>
            </a:r>
            <a:r>
              <a:rPr lang="en-US" sz="2199" b="1" spc="21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Data Warping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)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5796" y="6601331"/>
            <a:ext cx="8331271" cy="134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Ces méthodes génèrent de nouvelles instances d'entraînement entièrement nouvelles (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synthétiques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) en utilisant des modèles d'apprentissage profond ou en combinant les données existantes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16468" y="6067931"/>
            <a:ext cx="674272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Suréchantillonnage (</a:t>
            </a:r>
            <a:r>
              <a:rPr lang="en-US" sz="2199" b="1" spc="21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Oversampling</a:t>
            </a: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)</a:t>
            </a:r>
          </a:p>
        </p:txBody>
      </p:sp>
      <p:sp>
        <p:nvSpPr>
          <p:cNvPr id="17" name="Freeform 17"/>
          <p:cNvSpPr/>
          <p:nvPr/>
        </p:nvSpPr>
        <p:spPr>
          <a:xfrm>
            <a:off x="9728862" y="6152630"/>
            <a:ext cx="223912" cy="230538"/>
          </a:xfrm>
          <a:custGeom>
            <a:avLst/>
            <a:gdLst/>
            <a:ahLst/>
            <a:cxnLst/>
            <a:rect l="l" t="t" r="r" b="b"/>
            <a:pathLst>
              <a:path w="223912" h="230538">
                <a:moveTo>
                  <a:pt x="0" y="0"/>
                </a:moveTo>
                <a:lnTo>
                  <a:pt x="223912" y="0"/>
                </a:lnTo>
                <a:lnTo>
                  <a:pt x="223912" y="230538"/>
                </a:lnTo>
                <a:lnTo>
                  <a:pt x="0" y="230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584" r="-641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9515796" y="8168257"/>
            <a:ext cx="8274641" cy="43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- Mélange d'images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72727" y="8013183"/>
            <a:ext cx="5570599" cy="4547634"/>
          </a:xfrm>
          <a:custGeom>
            <a:avLst/>
            <a:gdLst/>
            <a:ahLst/>
            <a:cxnLst/>
            <a:rect l="l" t="t" r="r" b="b"/>
            <a:pathLst>
              <a:path w="5570599" h="4547634">
                <a:moveTo>
                  <a:pt x="5570599" y="0"/>
                </a:moveTo>
                <a:lnTo>
                  <a:pt x="0" y="0"/>
                </a:lnTo>
                <a:lnTo>
                  <a:pt x="0" y="4547634"/>
                </a:lnTo>
                <a:lnTo>
                  <a:pt x="5570599" y="4547634"/>
                </a:lnTo>
                <a:lnTo>
                  <a:pt x="5570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4460031" y="7285373"/>
            <a:ext cx="5598538" cy="1455620"/>
          </a:xfrm>
          <a:custGeom>
            <a:avLst/>
            <a:gdLst/>
            <a:ahLst/>
            <a:cxnLst/>
            <a:rect l="l" t="t" r="r" b="b"/>
            <a:pathLst>
              <a:path w="5598538" h="1455620">
                <a:moveTo>
                  <a:pt x="0" y="0"/>
                </a:moveTo>
                <a:lnTo>
                  <a:pt x="5598538" y="0"/>
                </a:lnTo>
                <a:lnTo>
                  <a:pt x="5598538" y="1455620"/>
                </a:lnTo>
                <a:lnTo>
                  <a:pt x="0" y="145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5061228" y="5317882"/>
            <a:ext cx="973949" cy="802076"/>
            <a:chOff x="0" y="0"/>
            <a:chExt cx="647700" cy="533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1681945" y="2730884"/>
            <a:ext cx="3167351" cy="802076"/>
            <a:chOff x="0" y="0"/>
            <a:chExt cx="2106366" cy="533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6366" cy="533400"/>
            </a:xfrm>
            <a:custGeom>
              <a:avLst/>
              <a:gdLst/>
              <a:ahLst/>
              <a:cxnLst/>
              <a:rect l="l" t="t" r="r" b="b"/>
              <a:pathLst>
                <a:path w="2106366" h="533400">
                  <a:moveTo>
                    <a:pt x="239386" y="166418"/>
                  </a:moveTo>
                  <a:lnTo>
                    <a:pt x="2106366" y="166418"/>
                  </a:lnTo>
                  <a:lnTo>
                    <a:pt x="210636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650" y="155575"/>
              <a:ext cx="1985716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1681945" y="4121663"/>
            <a:ext cx="973949" cy="802076"/>
            <a:chOff x="0" y="0"/>
            <a:chExt cx="647700" cy="53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1681945" y="5317882"/>
            <a:ext cx="3167351" cy="802076"/>
            <a:chOff x="0" y="0"/>
            <a:chExt cx="2106366" cy="533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6366" cy="533400"/>
            </a:xfrm>
            <a:custGeom>
              <a:avLst/>
              <a:gdLst/>
              <a:ahLst/>
              <a:cxnLst/>
              <a:rect l="l" t="t" r="r" b="b"/>
              <a:pathLst>
                <a:path w="2106366" h="533400">
                  <a:moveTo>
                    <a:pt x="239386" y="166418"/>
                  </a:moveTo>
                  <a:lnTo>
                    <a:pt x="2106366" y="166418"/>
                  </a:lnTo>
                  <a:lnTo>
                    <a:pt x="210636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650" y="155575"/>
              <a:ext cx="1985716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1681945" y="6526108"/>
            <a:ext cx="973949" cy="802076"/>
            <a:chOff x="0" y="0"/>
            <a:chExt cx="647700" cy="533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1681945" y="7876580"/>
            <a:ext cx="3167351" cy="802076"/>
            <a:chOff x="0" y="0"/>
            <a:chExt cx="2106366" cy="533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6366" cy="533400"/>
            </a:xfrm>
            <a:custGeom>
              <a:avLst/>
              <a:gdLst/>
              <a:ahLst/>
              <a:cxnLst/>
              <a:rect l="l" t="t" r="r" b="b"/>
              <a:pathLst>
                <a:path w="2106366" h="533400">
                  <a:moveTo>
                    <a:pt x="239386" y="166418"/>
                  </a:moveTo>
                  <a:lnTo>
                    <a:pt x="2106366" y="166418"/>
                  </a:lnTo>
                  <a:lnTo>
                    <a:pt x="210636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650" y="155575"/>
              <a:ext cx="1985716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47092" y="4187142"/>
            <a:ext cx="3759609" cy="2531470"/>
          </a:xfrm>
          <a:custGeom>
            <a:avLst/>
            <a:gdLst/>
            <a:ahLst/>
            <a:cxnLst/>
            <a:rect l="l" t="t" r="r" b="b"/>
            <a:pathLst>
              <a:path w="3759609" h="2531470">
                <a:moveTo>
                  <a:pt x="0" y="0"/>
                </a:moveTo>
                <a:lnTo>
                  <a:pt x="3759609" y="0"/>
                </a:lnTo>
                <a:lnTo>
                  <a:pt x="3759609" y="2531470"/>
                </a:lnTo>
                <a:lnTo>
                  <a:pt x="0" y="25314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15129009" y="2384541"/>
            <a:ext cx="1704283" cy="1368325"/>
          </a:xfrm>
          <a:custGeom>
            <a:avLst/>
            <a:gdLst/>
            <a:ahLst/>
            <a:cxnLst/>
            <a:rect l="l" t="t" r="r" b="b"/>
            <a:pathLst>
              <a:path w="1704283" h="1368325">
                <a:moveTo>
                  <a:pt x="0" y="0"/>
                </a:moveTo>
                <a:lnTo>
                  <a:pt x="1704283" y="0"/>
                </a:lnTo>
                <a:lnTo>
                  <a:pt x="1704283" y="1368325"/>
                </a:lnTo>
                <a:lnTo>
                  <a:pt x="0" y="1368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923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12701306" y="3752866"/>
            <a:ext cx="1833338" cy="1390634"/>
          </a:xfrm>
          <a:custGeom>
            <a:avLst/>
            <a:gdLst/>
            <a:ahLst/>
            <a:cxnLst/>
            <a:rect l="l" t="t" r="r" b="b"/>
            <a:pathLst>
              <a:path w="1833338" h="1390634">
                <a:moveTo>
                  <a:pt x="0" y="0"/>
                </a:moveTo>
                <a:lnTo>
                  <a:pt x="1833338" y="0"/>
                </a:lnTo>
                <a:lnTo>
                  <a:pt x="1833338" y="1390634"/>
                </a:lnTo>
                <a:lnTo>
                  <a:pt x="0" y="13906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265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12655894" y="6339033"/>
            <a:ext cx="1878750" cy="1265025"/>
          </a:xfrm>
          <a:custGeom>
            <a:avLst/>
            <a:gdLst/>
            <a:ahLst/>
            <a:cxnLst/>
            <a:rect l="l" t="t" r="r" b="b"/>
            <a:pathLst>
              <a:path w="1878750" h="1265025">
                <a:moveTo>
                  <a:pt x="0" y="0"/>
                </a:moveTo>
                <a:lnTo>
                  <a:pt x="1878750" y="0"/>
                </a:lnTo>
                <a:lnTo>
                  <a:pt x="1878750" y="1265025"/>
                </a:lnTo>
                <a:lnTo>
                  <a:pt x="0" y="1265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15336113" y="7498115"/>
            <a:ext cx="1428718" cy="1559006"/>
          </a:xfrm>
          <a:custGeom>
            <a:avLst/>
            <a:gdLst/>
            <a:ahLst/>
            <a:cxnLst/>
            <a:rect l="l" t="t" r="r" b="b"/>
            <a:pathLst>
              <a:path w="1428718" h="1559006">
                <a:moveTo>
                  <a:pt x="0" y="0"/>
                </a:moveTo>
                <a:lnTo>
                  <a:pt x="1428718" y="0"/>
                </a:lnTo>
                <a:lnTo>
                  <a:pt x="1428718" y="1559006"/>
                </a:lnTo>
                <a:lnTo>
                  <a:pt x="0" y="15590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857" t="-250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15129009" y="4593292"/>
            <a:ext cx="1936442" cy="1932816"/>
          </a:xfrm>
          <a:custGeom>
            <a:avLst/>
            <a:gdLst/>
            <a:ahLst/>
            <a:cxnLst/>
            <a:rect l="l" t="t" r="r" b="b"/>
            <a:pathLst>
              <a:path w="1936442" h="1932816">
                <a:moveTo>
                  <a:pt x="0" y="0"/>
                </a:moveTo>
                <a:lnTo>
                  <a:pt x="1936442" y="0"/>
                </a:lnTo>
                <a:lnTo>
                  <a:pt x="1936442" y="1932816"/>
                </a:lnTo>
                <a:lnTo>
                  <a:pt x="0" y="19328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TextBox 29"/>
          <p:cNvSpPr txBox="1"/>
          <p:nvPr/>
        </p:nvSpPr>
        <p:spPr>
          <a:xfrm>
            <a:off x="1805267" y="1546342"/>
            <a:ext cx="3669461" cy="4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Méthodologie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lllustration      -       Ancrage      -     Conclusion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7602" y="1422517"/>
            <a:ext cx="716053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24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Déformation des données (Data Warping)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07467" y="1985761"/>
            <a:ext cx="8765938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22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Transformations Géométriques (Geometric transformations) :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7698" y="2961743"/>
            <a:ext cx="4008239" cy="713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Retournement (Flipping)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Retournement vertical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Rotation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Translation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Recadrage (Cropping)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Transformations Affines</a:t>
            </a: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Générales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1554" y="-3213685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4" y="0"/>
                </a:lnTo>
                <a:lnTo>
                  <a:pt x="6235304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348213" y="5260386"/>
            <a:ext cx="1567360" cy="1615835"/>
          </a:xfrm>
          <a:custGeom>
            <a:avLst/>
            <a:gdLst/>
            <a:ahLst/>
            <a:cxnLst/>
            <a:rect l="l" t="t" r="r" b="b"/>
            <a:pathLst>
              <a:path w="1567360" h="1615835">
                <a:moveTo>
                  <a:pt x="0" y="0"/>
                </a:moveTo>
                <a:lnTo>
                  <a:pt x="1567360" y="0"/>
                </a:lnTo>
                <a:lnTo>
                  <a:pt x="1567360" y="1615835"/>
                </a:lnTo>
                <a:lnTo>
                  <a:pt x="0" y="16158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352305" y="4159464"/>
            <a:ext cx="3641347" cy="3753966"/>
          </a:xfrm>
          <a:custGeom>
            <a:avLst/>
            <a:gdLst/>
            <a:ahLst/>
            <a:cxnLst/>
            <a:rect l="l" t="t" r="r" b="b"/>
            <a:pathLst>
              <a:path w="3641347" h="3753966">
                <a:moveTo>
                  <a:pt x="0" y="0"/>
                </a:moveTo>
                <a:lnTo>
                  <a:pt x="3641347" y="0"/>
                </a:lnTo>
                <a:lnTo>
                  <a:pt x="3641347" y="3753966"/>
                </a:lnTo>
                <a:lnTo>
                  <a:pt x="0" y="3753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4348213" y="7569571"/>
            <a:ext cx="1567360" cy="1615835"/>
          </a:xfrm>
          <a:custGeom>
            <a:avLst/>
            <a:gdLst/>
            <a:ahLst/>
            <a:cxnLst/>
            <a:rect l="l" t="t" r="r" b="b"/>
            <a:pathLst>
              <a:path w="1567360" h="1615835">
                <a:moveTo>
                  <a:pt x="0" y="0"/>
                </a:moveTo>
                <a:lnTo>
                  <a:pt x="1567360" y="0"/>
                </a:lnTo>
                <a:lnTo>
                  <a:pt x="1567360" y="1615835"/>
                </a:lnTo>
                <a:lnTo>
                  <a:pt x="0" y="16158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6674072" y="3298390"/>
            <a:ext cx="4967585" cy="545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Variations de luminosité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Variation de teinte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Passage en noir et blanc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Saturation des images</a:t>
            </a: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endParaRPr lang="en-US" sz="2700" b="1" spc="81">
              <a:solidFill>
                <a:srgbClr val="665D5A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321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Manipulation des canaux RVB 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5187602" y="5654530"/>
            <a:ext cx="973949" cy="802076"/>
            <a:chOff x="0" y="0"/>
            <a:chExt cx="647700" cy="533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1808320" y="3067531"/>
            <a:ext cx="2539893" cy="802076"/>
            <a:chOff x="0" y="0"/>
            <a:chExt cx="1689091" cy="53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89091" cy="533400"/>
            </a:xfrm>
            <a:custGeom>
              <a:avLst/>
              <a:gdLst/>
              <a:ahLst/>
              <a:cxnLst/>
              <a:rect l="l" t="t" r="r" b="b"/>
              <a:pathLst>
                <a:path w="1689091" h="533400">
                  <a:moveTo>
                    <a:pt x="239386" y="166418"/>
                  </a:moveTo>
                  <a:lnTo>
                    <a:pt x="1689091" y="166418"/>
                  </a:lnTo>
                  <a:lnTo>
                    <a:pt x="1689091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650" y="155575"/>
              <a:ext cx="1568441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1808320" y="4458310"/>
            <a:ext cx="973949" cy="802076"/>
            <a:chOff x="0" y="0"/>
            <a:chExt cx="647700" cy="533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1808320" y="5654530"/>
            <a:ext cx="2539893" cy="802076"/>
            <a:chOff x="0" y="0"/>
            <a:chExt cx="1689091" cy="533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89091" cy="533400"/>
            </a:xfrm>
            <a:custGeom>
              <a:avLst/>
              <a:gdLst/>
              <a:ahLst/>
              <a:cxnLst/>
              <a:rect l="l" t="t" r="r" b="b"/>
              <a:pathLst>
                <a:path w="1689091" h="533400">
                  <a:moveTo>
                    <a:pt x="239386" y="166418"/>
                  </a:moveTo>
                  <a:lnTo>
                    <a:pt x="1689091" y="166418"/>
                  </a:lnTo>
                  <a:lnTo>
                    <a:pt x="1689091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650" y="155575"/>
              <a:ext cx="1568441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1808320" y="6862755"/>
            <a:ext cx="973949" cy="802076"/>
            <a:chOff x="0" y="0"/>
            <a:chExt cx="647700" cy="533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11808320" y="8213228"/>
            <a:ext cx="2539893" cy="802076"/>
            <a:chOff x="0" y="0"/>
            <a:chExt cx="1689091" cy="533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89091" cy="533400"/>
            </a:xfrm>
            <a:custGeom>
              <a:avLst/>
              <a:gdLst/>
              <a:ahLst/>
              <a:cxnLst/>
              <a:rect l="l" t="t" r="r" b="b"/>
              <a:pathLst>
                <a:path w="1689091" h="533400">
                  <a:moveTo>
                    <a:pt x="239386" y="166418"/>
                  </a:moveTo>
                  <a:lnTo>
                    <a:pt x="1689091" y="166418"/>
                  </a:lnTo>
                  <a:lnTo>
                    <a:pt x="1689091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0650" y="155575"/>
              <a:ext cx="1568441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2782269" y="6485180"/>
            <a:ext cx="1565944" cy="1614375"/>
          </a:xfrm>
          <a:custGeom>
            <a:avLst/>
            <a:gdLst/>
            <a:ahLst/>
            <a:cxnLst/>
            <a:rect l="l" t="t" r="r" b="b"/>
            <a:pathLst>
              <a:path w="1565944" h="1614375">
                <a:moveTo>
                  <a:pt x="0" y="0"/>
                </a:moveTo>
                <a:lnTo>
                  <a:pt x="1565944" y="0"/>
                </a:lnTo>
                <a:lnTo>
                  <a:pt x="1565944" y="1614376"/>
                </a:lnTo>
                <a:lnTo>
                  <a:pt x="0" y="1614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14348213" y="2721189"/>
            <a:ext cx="1567360" cy="1615835"/>
          </a:xfrm>
          <a:custGeom>
            <a:avLst/>
            <a:gdLst/>
            <a:ahLst/>
            <a:cxnLst/>
            <a:rect l="l" t="t" r="r" b="b"/>
            <a:pathLst>
              <a:path w="1567360" h="1615835">
                <a:moveTo>
                  <a:pt x="0" y="0"/>
                </a:moveTo>
                <a:lnTo>
                  <a:pt x="1567360" y="0"/>
                </a:lnTo>
                <a:lnTo>
                  <a:pt x="1567360" y="1615835"/>
                </a:lnTo>
                <a:lnTo>
                  <a:pt x="0" y="16158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12782269" y="3954881"/>
            <a:ext cx="1565944" cy="1614375"/>
          </a:xfrm>
          <a:custGeom>
            <a:avLst/>
            <a:gdLst/>
            <a:ahLst/>
            <a:cxnLst/>
            <a:rect l="l" t="t" r="r" b="b"/>
            <a:pathLst>
              <a:path w="1565944" h="1614375">
                <a:moveTo>
                  <a:pt x="0" y="0"/>
                </a:moveTo>
                <a:lnTo>
                  <a:pt x="1565944" y="0"/>
                </a:lnTo>
                <a:lnTo>
                  <a:pt x="1565944" y="1614375"/>
                </a:lnTo>
                <a:lnTo>
                  <a:pt x="0" y="16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TextBox 29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-      lllustration      -       Ancrage      -     Conclusion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6763" y="1787739"/>
            <a:ext cx="1212425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sz="3415" b="1" spc="102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Méthode d’augmentation : Distortion des couleurs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3944" y="2302089"/>
            <a:ext cx="1750011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Objectif : améliorer la robustesse du modèle face aux variations d'éclairage, de teinte et de saturation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5267" y="1546342"/>
            <a:ext cx="3669461" cy="4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Méthodologie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872727" y="8013183"/>
            <a:ext cx="5570599" cy="4547634"/>
          </a:xfrm>
          <a:custGeom>
            <a:avLst/>
            <a:gdLst/>
            <a:ahLst/>
            <a:cxnLst/>
            <a:rect l="l" t="t" r="r" b="b"/>
            <a:pathLst>
              <a:path w="5570599" h="4547634">
                <a:moveTo>
                  <a:pt x="5570599" y="0"/>
                </a:moveTo>
                <a:lnTo>
                  <a:pt x="0" y="0"/>
                </a:lnTo>
                <a:lnTo>
                  <a:pt x="0" y="4547634"/>
                </a:lnTo>
                <a:lnTo>
                  <a:pt x="5570599" y="4547634"/>
                </a:lnTo>
                <a:lnTo>
                  <a:pt x="5570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4700908">
            <a:off x="14460031" y="7285373"/>
            <a:ext cx="5598538" cy="1455620"/>
          </a:xfrm>
          <a:custGeom>
            <a:avLst/>
            <a:gdLst/>
            <a:ahLst/>
            <a:cxnLst/>
            <a:rect l="l" t="t" r="r" b="b"/>
            <a:pathLst>
              <a:path w="5598538" h="1455620">
                <a:moveTo>
                  <a:pt x="0" y="0"/>
                </a:moveTo>
                <a:lnTo>
                  <a:pt x="5598538" y="0"/>
                </a:lnTo>
                <a:lnTo>
                  <a:pt x="5598538" y="1455620"/>
                </a:lnTo>
                <a:lnTo>
                  <a:pt x="0" y="145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lllustration      -       Ancrage      -    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19341"/>
            <a:ext cx="15828227" cy="134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Objectif 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D49E26"/>
                </a:solidFill>
                <a:latin typeface="Roboto"/>
                <a:ea typeface="Roboto"/>
                <a:cs typeface="Roboto"/>
                <a:sym typeface="Roboto"/>
              </a:rPr>
              <a:t>Masquer aléatoire de zones de l'image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pour pousser le modèle à chercher des caractéristiques plus robustes. Spécifiquement conçue pour combattre les défis de reconnaissance d'images dus à l'occlusion.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5267" y="2250459"/>
            <a:ext cx="876593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23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Effacement aléatoire (Random Erasing)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320784"/>
            <a:ext cx="8297107" cy="317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Principe et Fonctionnement :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D49E26"/>
                </a:solidFill>
                <a:latin typeface="Roboto"/>
                <a:ea typeface="Roboto"/>
                <a:cs typeface="Roboto"/>
                <a:sym typeface="Roboto"/>
              </a:rPr>
              <a:t>Sélection aléatoire d’un patch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de taille n×m dans l’image, puis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D49E26"/>
                </a:solidFill>
                <a:latin typeface="Roboto"/>
                <a:ea typeface="Roboto"/>
                <a:cs typeface="Roboto"/>
                <a:sym typeface="Roboto"/>
              </a:rPr>
              <a:t>Masquage ou effacement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de cette zone. 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D49E26"/>
                </a:solidFill>
                <a:latin typeface="Roboto"/>
                <a:ea typeface="Roboto"/>
                <a:cs typeface="Roboto"/>
                <a:sym typeface="Roboto"/>
              </a:rPr>
              <a:t>Remplissage 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de la zone effacée par des valeurs spécifiques :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- 0s (noir).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- 255s (blanc).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- Des valeurs de pixels moyennes.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649835"/>
            <a:ext cx="15828227" cy="226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Avantages :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Prévention du Surapprentissage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Amélioration de la Robustesse et de la Performance</a:t>
            </a:r>
          </a:p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Limites :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Perte d’étiquette 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(Effacer une partie d'un chiffre ou d’un logo dans une image pourrait rendre l'objet méconnaissable.)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624910" y="4300411"/>
            <a:ext cx="1709283" cy="2359742"/>
          </a:xfrm>
          <a:custGeom>
            <a:avLst/>
            <a:gdLst/>
            <a:ahLst/>
            <a:cxnLst/>
            <a:rect l="l" t="t" r="r" b="b"/>
            <a:pathLst>
              <a:path w="1709283" h="2359742">
                <a:moveTo>
                  <a:pt x="0" y="0"/>
                </a:moveTo>
                <a:lnTo>
                  <a:pt x="1709283" y="0"/>
                </a:lnTo>
                <a:lnTo>
                  <a:pt x="1709283" y="2359743"/>
                </a:lnTo>
                <a:lnTo>
                  <a:pt x="0" y="23597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904" t="-95010" r="-514264" b="-7438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9325807" y="7224060"/>
            <a:ext cx="7332220" cy="2034240"/>
          </a:xfrm>
          <a:custGeom>
            <a:avLst/>
            <a:gdLst/>
            <a:ahLst/>
            <a:cxnLst/>
            <a:rect l="l" t="t" r="r" b="b"/>
            <a:pathLst>
              <a:path w="7332220" h="2034240">
                <a:moveTo>
                  <a:pt x="0" y="0"/>
                </a:moveTo>
                <a:lnTo>
                  <a:pt x="7332220" y="0"/>
                </a:lnTo>
                <a:lnTo>
                  <a:pt x="7332220" y="2034240"/>
                </a:lnTo>
                <a:lnTo>
                  <a:pt x="0" y="20342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561" t="-158252" r="-10569" b="-54245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72727" y="8013183"/>
            <a:ext cx="5570599" cy="4547634"/>
          </a:xfrm>
          <a:custGeom>
            <a:avLst/>
            <a:gdLst/>
            <a:ahLst/>
            <a:cxnLst/>
            <a:rect l="l" t="t" r="r" b="b"/>
            <a:pathLst>
              <a:path w="5570599" h="4547634">
                <a:moveTo>
                  <a:pt x="5570599" y="0"/>
                </a:moveTo>
                <a:lnTo>
                  <a:pt x="0" y="0"/>
                </a:lnTo>
                <a:lnTo>
                  <a:pt x="0" y="4547634"/>
                </a:lnTo>
                <a:lnTo>
                  <a:pt x="5570599" y="4547634"/>
                </a:lnTo>
                <a:lnTo>
                  <a:pt x="55705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4460031" y="7285373"/>
            <a:ext cx="5598538" cy="1455620"/>
          </a:xfrm>
          <a:custGeom>
            <a:avLst/>
            <a:gdLst/>
            <a:ahLst/>
            <a:cxnLst/>
            <a:rect l="l" t="t" r="r" b="b"/>
            <a:pathLst>
              <a:path w="5598538" h="1455620">
                <a:moveTo>
                  <a:pt x="0" y="0"/>
                </a:moveTo>
                <a:lnTo>
                  <a:pt x="5598538" y="0"/>
                </a:lnTo>
                <a:lnTo>
                  <a:pt x="5598538" y="1455620"/>
                </a:lnTo>
                <a:lnTo>
                  <a:pt x="0" y="145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805267" y="1546342"/>
            <a:ext cx="3669461" cy="4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Méthodologie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lllustration      -       Ancrage      -    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99099"/>
            <a:ext cx="9218601" cy="134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Objectif</a:t>
            </a:r>
          </a:p>
          <a:p>
            <a:pPr algn="l">
              <a:lnSpc>
                <a:spcPts val="3651"/>
              </a:lnSpc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Introduire des variations dans l'image pour rendre le modèle plus robuste lors de l'entraînement.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5267" y="2250459"/>
            <a:ext cx="876593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23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Filtres à Noyau (Kernel Filters)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380530"/>
            <a:ext cx="8760562" cy="226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Principe de Fonctionnement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Les filtres à noyau utilisent une matrice de taille n×n (le noyau) qui "glisse" sur l'image pour manipuler localement les pixels.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La convolution est l’opération principale, où chaque valeur de pixel de l'image est modifiée en fonction des valeurs du noyau.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022142"/>
            <a:ext cx="7743482" cy="134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Applications Typiques</a:t>
            </a:r>
          </a:p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Flou 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(Blurring) : Rendre l'image floue pour aider le modèle à mieux gérer le flou de mouvement. (Ex: Flou Gaussien)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329819" y="2453937"/>
            <a:ext cx="6846963" cy="3574256"/>
          </a:xfrm>
          <a:custGeom>
            <a:avLst/>
            <a:gdLst/>
            <a:ahLst/>
            <a:cxnLst/>
            <a:rect l="l" t="t" r="r" b="b"/>
            <a:pathLst>
              <a:path w="6846963" h="3574256">
                <a:moveTo>
                  <a:pt x="0" y="0"/>
                </a:moveTo>
                <a:lnTo>
                  <a:pt x="6846963" y="0"/>
                </a:lnTo>
                <a:lnTo>
                  <a:pt x="6846963" y="3574256"/>
                </a:lnTo>
                <a:lnTo>
                  <a:pt x="0" y="357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0329819" y="6048196"/>
            <a:ext cx="6757535" cy="3527573"/>
          </a:xfrm>
          <a:custGeom>
            <a:avLst/>
            <a:gdLst/>
            <a:ahLst/>
            <a:cxnLst/>
            <a:rect l="l" t="t" r="r" b="b"/>
            <a:pathLst>
              <a:path w="6757535" h="3527573">
                <a:moveTo>
                  <a:pt x="0" y="0"/>
                </a:moveTo>
                <a:lnTo>
                  <a:pt x="6757535" y="0"/>
                </a:lnTo>
                <a:lnTo>
                  <a:pt x="6757535" y="3527573"/>
                </a:lnTo>
                <a:lnTo>
                  <a:pt x="0" y="35275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2708606" y="1947661"/>
            <a:ext cx="1914789" cy="41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100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Flou Gaussien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72727" y="8013183"/>
            <a:ext cx="5570599" cy="4547634"/>
          </a:xfrm>
          <a:custGeom>
            <a:avLst/>
            <a:gdLst/>
            <a:ahLst/>
            <a:cxnLst/>
            <a:rect l="l" t="t" r="r" b="b"/>
            <a:pathLst>
              <a:path w="5570599" h="4547634">
                <a:moveTo>
                  <a:pt x="5570599" y="0"/>
                </a:moveTo>
                <a:lnTo>
                  <a:pt x="0" y="0"/>
                </a:lnTo>
                <a:lnTo>
                  <a:pt x="0" y="4547634"/>
                </a:lnTo>
                <a:lnTo>
                  <a:pt x="5570599" y="4547634"/>
                </a:lnTo>
                <a:lnTo>
                  <a:pt x="55705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4460031" y="7285373"/>
            <a:ext cx="5598538" cy="1455620"/>
          </a:xfrm>
          <a:custGeom>
            <a:avLst/>
            <a:gdLst/>
            <a:ahLst/>
            <a:cxnLst/>
            <a:rect l="l" t="t" r="r" b="b"/>
            <a:pathLst>
              <a:path w="5598538" h="1455620">
                <a:moveTo>
                  <a:pt x="0" y="0"/>
                </a:moveTo>
                <a:lnTo>
                  <a:pt x="5598538" y="0"/>
                </a:lnTo>
                <a:lnTo>
                  <a:pt x="5598538" y="1455620"/>
                </a:lnTo>
                <a:lnTo>
                  <a:pt x="0" y="145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655039" y="6904894"/>
            <a:ext cx="6260489" cy="3268105"/>
          </a:xfrm>
          <a:custGeom>
            <a:avLst/>
            <a:gdLst/>
            <a:ahLst/>
            <a:cxnLst/>
            <a:rect l="l" t="t" r="r" b="b"/>
            <a:pathLst>
              <a:path w="6260489" h="3268105">
                <a:moveTo>
                  <a:pt x="0" y="0"/>
                </a:moveTo>
                <a:lnTo>
                  <a:pt x="6260488" y="0"/>
                </a:lnTo>
                <a:lnTo>
                  <a:pt x="6260488" y="3268105"/>
                </a:lnTo>
                <a:lnTo>
                  <a:pt x="0" y="3268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721714" y="3176007"/>
            <a:ext cx="5785768" cy="2996998"/>
          </a:xfrm>
          <a:custGeom>
            <a:avLst/>
            <a:gdLst/>
            <a:ahLst/>
            <a:cxnLst/>
            <a:rect l="l" t="t" r="r" b="b"/>
            <a:pathLst>
              <a:path w="5785768" h="2996998">
                <a:moveTo>
                  <a:pt x="0" y="0"/>
                </a:moveTo>
                <a:lnTo>
                  <a:pt x="5785767" y="0"/>
                </a:lnTo>
                <a:lnTo>
                  <a:pt x="5785767" y="2996998"/>
                </a:lnTo>
                <a:lnTo>
                  <a:pt x="0" y="2996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805267" y="1546342"/>
            <a:ext cx="3669461" cy="4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D49E26"/>
                </a:solidFill>
                <a:latin typeface="Radley"/>
                <a:ea typeface="Radley"/>
                <a:cs typeface="Radley"/>
                <a:sym typeface="Radley"/>
              </a:rPr>
              <a:t>Méthodologie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Méthodologie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lllustration      -       Ancrage      -    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5267" y="2250459"/>
            <a:ext cx="876593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23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Filtres à Noyau (Kernel Filters)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271" y="2693493"/>
            <a:ext cx="18165711" cy="43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Affûtage 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(Sharpening) : Accentue les détails des bords pour mieux capturer les objets d'intérêt, comme avec des filtres de contraste élevé.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271" y="6366668"/>
            <a:ext cx="16058040" cy="43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651"/>
              </a:lnSpc>
              <a:buFont typeface="Arial"/>
              <a:buChar char="•"/>
            </a:pPr>
            <a:r>
              <a:rPr lang="en-US" sz="2199" b="1" spc="2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Regularization</a:t>
            </a:r>
            <a:r>
              <a:rPr lang="en-US" sz="2199" spc="2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(PatchShuffle): Permuter aléatoirement les valeurs de pixels dans une fenêtre glissante de taille n×n.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897210" y="-933172"/>
            <a:ext cx="4408980" cy="3599331"/>
          </a:xfrm>
          <a:custGeom>
            <a:avLst/>
            <a:gdLst/>
            <a:ahLst/>
            <a:cxnLst/>
            <a:rect l="l" t="t" r="r" b="b"/>
            <a:pathLst>
              <a:path w="4408980" h="3599331">
                <a:moveTo>
                  <a:pt x="0" y="0"/>
                </a:moveTo>
                <a:lnTo>
                  <a:pt x="4408979" y="0"/>
                </a:lnTo>
                <a:lnTo>
                  <a:pt x="4408979" y="3599330"/>
                </a:lnTo>
                <a:lnTo>
                  <a:pt x="0" y="3599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2732497" y="-624001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2585901" y="2666158"/>
            <a:ext cx="3759609" cy="2531470"/>
          </a:xfrm>
          <a:custGeom>
            <a:avLst/>
            <a:gdLst/>
            <a:ahLst/>
            <a:cxnLst/>
            <a:rect l="l" t="t" r="r" b="b"/>
            <a:pathLst>
              <a:path w="3759609" h="2531470">
                <a:moveTo>
                  <a:pt x="0" y="0"/>
                </a:moveTo>
                <a:lnTo>
                  <a:pt x="3759609" y="0"/>
                </a:lnTo>
                <a:lnTo>
                  <a:pt x="3759609" y="2531470"/>
                </a:lnTo>
                <a:lnTo>
                  <a:pt x="0" y="25314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7488510" y="3530856"/>
            <a:ext cx="973949" cy="802076"/>
            <a:chOff x="0" y="0"/>
            <a:chExt cx="647700" cy="53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607989" y="2666158"/>
            <a:ext cx="3759609" cy="2531470"/>
          </a:xfrm>
          <a:custGeom>
            <a:avLst/>
            <a:gdLst/>
            <a:ahLst/>
            <a:cxnLst/>
            <a:rect l="l" t="t" r="r" b="b"/>
            <a:pathLst>
              <a:path w="3759609" h="2531470">
                <a:moveTo>
                  <a:pt x="0" y="0"/>
                </a:moveTo>
                <a:lnTo>
                  <a:pt x="3759609" y="0"/>
                </a:lnTo>
                <a:lnTo>
                  <a:pt x="3759609" y="2531470"/>
                </a:lnTo>
                <a:lnTo>
                  <a:pt x="0" y="25314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lllustration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-       Ancrage      -     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6763" y="1787739"/>
            <a:ext cx="1110895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sz="3415" b="1" spc="102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Méthode d’augmentation : Retournement horizontal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42186" y="5792941"/>
            <a:ext cx="4621113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PRINCIPE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Effet miroir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Probabilité : 50%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Invariance gauche/droite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80925" y="5578628"/>
            <a:ext cx="328027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PROTOCOLE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1000 img/classe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Split : 80/10/10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CNN 3 couches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3 époques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42186" y="8359928"/>
            <a:ext cx="545207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703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IMPLÉMENTATION </a:t>
            </a:r>
          </a:p>
          <a:p>
            <a:pPr marL="583626" lvl="1" indent="-291813" algn="l">
              <a:lnSpc>
                <a:spcPts val="3243"/>
              </a:lnSpc>
              <a:buFont typeface="Arial"/>
              <a:buChar char="•"/>
            </a:pPr>
            <a:r>
              <a:rPr lang="en-US" sz="2703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RandomHorizontalFlip(p=0.5)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80925" y="8155141"/>
            <a:ext cx="643066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696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HYPOTHÈSE  </a:t>
            </a:r>
          </a:p>
          <a:p>
            <a:pPr algn="l">
              <a:lnSpc>
                <a:spcPts val="3235"/>
              </a:lnSpc>
            </a:pPr>
            <a:r>
              <a:rPr lang="en-US" sz="2696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Le flip horizontal repose sur l’hypothèse que l’orientation ne modifie pas la classe ; il vise donc à améliorer la généralisation.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602660" y="-921565"/>
            <a:ext cx="8536036" cy="6968510"/>
          </a:xfrm>
          <a:custGeom>
            <a:avLst/>
            <a:gdLst/>
            <a:ahLst/>
            <a:cxnLst/>
            <a:rect l="l" t="t" r="r" b="b"/>
            <a:pathLst>
              <a:path w="8536036" h="6968510">
                <a:moveTo>
                  <a:pt x="0" y="0"/>
                </a:moveTo>
                <a:lnTo>
                  <a:pt x="8536036" y="0"/>
                </a:lnTo>
                <a:lnTo>
                  <a:pt x="8536036" y="6968509"/>
                </a:lnTo>
                <a:lnTo>
                  <a:pt x="0" y="6968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5778055">
            <a:off x="-2650389" y="6219141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0203840" y="1575850"/>
            <a:ext cx="7300088" cy="8349548"/>
          </a:xfrm>
          <a:custGeom>
            <a:avLst/>
            <a:gdLst/>
            <a:ahLst/>
            <a:cxnLst/>
            <a:rect l="l" t="t" r="r" b="b"/>
            <a:pathLst>
              <a:path w="7300088" h="8349548">
                <a:moveTo>
                  <a:pt x="0" y="0"/>
                </a:moveTo>
                <a:lnTo>
                  <a:pt x="7300088" y="0"/>
                </a:lnTo>
                <a:lnTo>
                  <a:pt x="7300088" y="8349548"/>
                </a:lnTo>
                <a:lnTo>
                  <a:pt x="0" y="8349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79056" y="3131201"/>
          <a:ext cx="6804674" cy="3000375"/>
        </p:xfrm>
        <a:graphic>
          <a:graphicData uri="http://schemas.openxmlformats.org/drawingml/2006/table">
            <a:tbl>
              <a:tblPr/>
              <a:tblGrid>
                <a:gridCol w="340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2283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Méthode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28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808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Illustration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 Ancrage      -    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7246" y="1566325"/>
            <a:ext cx="997740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615" b="1" u="none" strike="noStrike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Illustration -- Retournement Horizontal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31879" y="7402468"/>
            <a:ext cx="6499027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Résultats : 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Légère amélioration : +1% sur le test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Apprentissage similaire à la baseline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Bénéfice limité sur faible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645684" y="5108438"/>
            <a:ext cx="7284632" cy="5946909"/>
          </a:xfrm>
          <a:custGeom>
            <a:avLst/>
            <a:gdLst/>
            <a:ahLst/>
            <a:cxnLst/>
            <a:rect l="l" t="t" r="r" b="b"/>
            <a:pathLst>
              <a:path w="7284632" h="5946909">
                <a:moveTo>
                  <a:pt x="0" y="0"/>
                </a:moveTo>
                <a:lnTo>
                  <a:pt x="7284632" y="0"/>
                </a:lnTo>
                <a:lnTo>
                  <a:pt x="7284632" y="5946909"/>
                </a:lnTo>
                <a:lnTo>
                  <a:pt x="0" y="5946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3301167" y="2610905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758960" y="2433258"/>
            <a:ext cx="2557484" cy="2636581"/>
          </a:xfrm>
          <a:custGeom>
            <a:avLst/>
            <a:gdLst/>
            <a:ahLst/>
            <a:cxnLst/>
            <a:rect l="l" t="t" r="r" b="b"/>
            <a:pathLst>
              <a:path w="2557484" h="2636581">
                <a:moveTo>
                  <a:pt x="0" y="0"/>
                </a:moveTo>
                <a:lnTo>
                  <a:pt x="2557484" y="0"/>
                </a:lnTo>
                <a:lnTo>
                  <a:pt x="2557484" y="2636581"/>
                </a:lnTo>
                <a:lnTo>
                  <a:pt x="0" y="2636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0301193" y="2506919"/>
            <a:ext cx="2557484" cy="2636581"/>
          </a:xfrm>
          <a:custGeom>
            <a:avLst/>
            <a:gdLst/>
            <a:ahLst/>
            <a:cxnLst/>
            <a:rect l="l" t="t" r="r" b="b"/>
            <a:pathLst>
              <a:path w="2557484" h="2636581">
                <a:moveTo>
                  <a:pt x="0" y="0"/>
                </a:moveTo>
                <a:lnTo>
                  <a:pt x="2557483" y="0"/>
                </a:lnTo>
                <a:lnTo>
                  <a:pt x="2557483" y="2636581"/>
                </a:lnTo>
                <a:lnTo>
                  <a:pt x="0" y="26365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Illustration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 Ancrage      -    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8422855" y="3433697"/>
            <a:ext cx="771927" cy="635704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13262" y="5529626"/>
            <a:ext cx="4569321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PRINCIPE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Retirer la couleur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Probabilité : 100%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nombre d’images doublé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2000" y="5315314"/>
            <a:ext cx="328027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PROTOCOLE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1000 img/classe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Split : 80/10/10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CNN 3 couches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3 époques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13262" y="8096614"/>
            <a:ext cx="3167807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703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IMPLÉMENTATION </a:t>
            </a:r>
          </a:p>
          <a:p>
            <a:pPr marL="583626" lvl="1" indent="-291813" algn="l">
              <a:lnSpc>
                <a:spcPts val="3243"/>
              </a:lnSpc>
              <a:buFont typeface="Arial"/>
              <a:buChar char="•"/>
            </a:pPr>
            <a:r>
              <a:rPr lang="en-US" sz="2703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Grayscale()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52000" y="7891826"/>
            <a:ext cx="643066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696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HYPOTHÈSE  </a:t>
            </a:r>
          </a:p>
          <a:p>
            <a:pPr algn="l">
              <a:lnSpc>
                <a:spcPts val="3235"/>
              </a:lnSpc>
            </a:pPr>
            <a:r>
              <a:rPr lang="en-US" sz="2696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Le passage en noir et blanc repose sur l’hypothèse que la présence de couleur ne modifie pas la classe ; il vise donc à améliorer la généralisation.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763" y="1787739"/>
            <a:ext cx="1110895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sz="3415" b="1" spc="102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Méthode d’augmentation : Passage en noir et blanc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602660" y="-921565"/>
            <a:ext cx="8536036" cy="6968510"/>
          </a:xfrm>
          <a:custGeom>
            <a:avLst/>
            <a:gdLst/>
            <a:ahLst/>
            <a:cxnLst/>
            <a:rect l="l" t="t" r="r" b="b"/>
            <a:pathLst>
              <a:path w="8536036" h="6968510">
                <a:moveTo>
                  <a:pt x="0" y="0"/>
                </a:moveTo>
                <a:lnTo>
                  <a:pt x="8536036" y="0"/>
                </a:lnTo>
                <a:lnTo>
                  <a:pt x="8536036" y="6968509"/>
                </a:lnTo>
                <a:lnTo>
                  <a:pt x="0" y="6968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5778055">
            <a:off x="-2650389" y="6219141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79056" y="3131201"/>
          <a:ext cx="6804674" cy="3000374"/>
        </p:xfrm>
        <a:graphic>
          <a:graphicData uri="http://schemas.openxmlformats.org/drawingml/2006/table">
            <a:tbl>
              <a:tblPr/>
              <a:tblGrid>
                <a:gridCol w="340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2283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Méthode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28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808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Illustration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 Ancrage      -    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7246" y="1566325"/>
            <a:ext cx="997740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615" b="1" u="none" strike="noStrike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Illustration -- Passage en noir et blanc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31879" y="7402468"/>
            <a:ext cx="6499027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Résultats : 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Légère amélioration : +1% sur le test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Apprentissage similaire à la baseline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Bénéfice limité sur faible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645684" y="5108438"/>
            <a:ext cx="7284632" cy="5946909"/>
          </a:xfrm>
          <a:custGeom>
            <a:avLst/>
            <a:gdLst/>
            <a:ahLst/>
            <a:cxnLst/>
            <a:rect l="l" t="t" r="r" b="b"/>
            <a:pathLst>
              <a:path w="7284632" h="5946909">
                <a:moveTo>
                  <a:pt x="0" y="0"/>
                </a:moveTo>
                <a:lnTo>
                  <a:pt x="7284632" y="0"/>
                </a:lnTo>
                <a:lnTo>
                  <a:pt x="7284632" y="5946909"/>
                </a:lnTo>
                <a:lnTo>
                  <a:pt x="0" y="5946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3301167" y="2610905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758960" y="2433258"/>
            <a:ext cx="2557484" cy="2636581"/>
          </a:xfrm>
          <a:custGeom>
            <a:avLst/>
            <a:gdLst/>
            <a:ahLst/>
            <a:cxnLst/>
            <a:rect l="l" t="t" r="r" b="b"/>
            <a:pathLst>
              <a:path w="2557484" h="2636581">
                <a:moveTo>
                  <a:pt x="0" y="0"/>
                </a:moveTo>
                <a:lnTo>
                  <a:pt x="2557484" y="0"/>
                </a:lnTo>
                <a:lnTo>
                  <a:pt x="2557484" y="2636581"/>
                </a:lnTo>
                <a:lnTo>
                  <a:pt x="0" y="2636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0301193" y="2506919"/>
            <a:ext cx="2557484" cy="2636581"/>
          </a:xfrm>
          <a:custGeom>
            <a:avLst/>
            <a:gdLst/>
            <a:ahLst/>
            <a:cxnLst/>
            <a:rect l="l" t="t" r="r" b="b"/>
            <a:pathLst>
              <a:path w="2557484" h="2636581">
                <a:moveTo>
                  <a:pt x="0" y="0"/>
                </a:moveTo>
                <a:lnTo>
                  <a:pt x="2557483" y="0"/>
                </a:lnTo>
                <a:lnTo>
                  <a:pt x="2557483" y="2636581"/>
                </a:lnTo>
                <a:lnTo>
                  <a:pt x="0" y="26365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8422855" y="3433697"/>
            <a:ext cx="771927" cy="635704"/>
            <a:chOff x="0" y="0"/>
            <a:chExt cx="647700" cy="533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65323" y="8119993"/>
            <a:ext cx="8678677" cy="1910901"/>
          </a:xfrm>
          <a:custGeom>
            <a:avLst/>
            <a:gdLst/>
            <a:ahLst/>
            <a:cxnLst/>
            <a:rect l="l" t="t" r="r" b="b"/>
            <a:pathLst>
              <a:path w="8678677" h="1910901">
                <a:moveTo>
                  <a:pt x="0" y="0"/>
                </a:moveTo>
                <a:lnTo>
                  <a:pt x="8678677" y="0"/>
                </a:lnTo>
                <a:lnTo>
                  <a:pt x="8678677" y="1910901"/>
                </a:lnTo>
                <a:lnTo>
                  <a:pt x="0" y="1910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Illustration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 Ancrage      -     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3262" y="5529626"/>
            <a:ext cx="3950196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PRINCIPE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Suppression de zone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Probabilité : 0.5%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endParaRPr lang="en-US" sz="2700" spc="81">
              <a:solidFill>
                <a:srgbClr val="665D5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52000" y="5315314"/>
            <a:ext cx="5348380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PROTOCOLE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26179 images, 10 classes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Split : 80/10/10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augmentation (sur 80)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CNN 3 couches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5 époques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323" y="7462985"/>
            <a:ext cx="479152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703" b="1" spc="81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IMPLÉMENTATION (Pytorch)</a:t>
            </a:r>
            <a:r>
              <a:rPr lang="en-US" sz="2703" spc="81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86319" y="8301401"/>
            <a:ext cx="6430662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696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HYPOTHÈSE  </a:t>
            </a:r>
          </a:p>
          <a:p>
            <a:pPr algn="l">
              <a:lnSpc>
                <a:spcPts val="3235"/>
              </a:lnSpc>
            </a:pPr>
            <a:r>
              <a:rPr lang="en-US" sz="2696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Les caractéristiques importantes d'une image ne sont pas confinées à une petite zone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763" y="1787739"/>
            <a:ext cx="1110895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sz="3415" b="1" spc="102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Méthode d’augmentation : Effacement aléatoire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602660" y="-921565"/>
            <a:ext cx="8536036" cy="6968510"/>
          </a:xfrm>
          <a:custGeom>
            <a:avLst/>
            <a:gdLst/>
            <a:ahLst/>
            <a:cxnLst/>
            <a:rect l="l" t="t" r="r" b="b"/>
            <a:pathLst>
              <a:path w="8536036" h="6968510">
                <a:moveTo>
                  <a:pt x="0" y="0"/>
                </a:moveTo>
                <a:lnTo>
                  <a:pt x="8536036" y="0"/>
                </a:lnTo>
                <a:lnTo>
                  <a:pt x="8536036" y="6968509"/>
                </a:lnTo>
                <a:lnTo>
                  <a:pt x="0" y="6968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5778055">
            <a:off x="-2650389" y="6219141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2696598"/>
          <a:ext cx="6804674" cy="3000374"/>
        </p:xfrm>
        <a:graphic>
          <a:graphicData uri="http://schemas.openxmlformats.org/drawingml/2006/table">
            <a:tbl>
              <a:tblPr/>
              <a:tblGrid>
                <a:gridCol w="340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2283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Méthode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665D5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28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808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665D5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12709436" y="5840896"/>
            <a:ext cx="5153145" cy="4277622"/>
          </a:xfrm>
          <a:custGeom>
            <a:avLst/>
            <a:gdLst/>
            <a:ahLst/>
            <a:cxnLst/>
            <a:rect l="l" t="t" r="r" b="b"/>
            <a:pathLst>
              <a:path w="5153145" h="4277622">
                <a:moveTo>
                  <a:pt x="0" y="0"/>
                </a:moveTo>
                <a:lnTo>
                  <a:pt x="5153145" y="0"/>
                </a:lnTo>
                <a:lnTo>
                  <a:pt x="5153145" y="4277622"/>
                </a:lnTo>
                <a:lnTo>
                  <a:pt x="0" y="4277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3195" r="-10003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Illustration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  Ancrage      -    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7246" y="1566325"/>
            <a:ext cx="997740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615" b="1" u="none" strike="noStrike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Illustration -- Effacement aléatoire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7246" y="7392682"/>
            <a:ext cx="2272159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b="1" spc="80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Résultats :  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Légère am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j</a:t>
            </a:r>
          </a:p>
          <a:p>
            <a:pPr marL="580490" lvl="1" indent="-290245" algn="l">
              <a:lnSpc>
                <a:spcPts val="3226"/>
              </a:lnSpc>
              <a:buFont typeface="Arial"/>
              <a:buChar char="•"/>
            </a:pPr>
            <a:r>
              <a:rPr lang="en-US" sz="2688" spc="80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187261" y="1575850"/>
            <a:ext cx="5398926" cy="4277622"/>
          </a:xfrm>
          <a:custGeom>
            <a:avLst/>
            <a:gdLst/>
            <a:ahLst/>
            <a:cxnLst/>
            <a:rect l="l" t="t" r="r" b="b"/>
            <a:pathLst>
              <a:path w="5398926" h="4277622">
                <a:moveTo>
                  <a:pt x="0" y="0"/>
                </a:moveTo>
                <a:lnTo>
                  <a:pt x="5398926" y="0"/>
                </a:lnTo>
                <a:lnTo>
                  <a:pt x="5398926" y="4277622"/>
                </a:lnTo>
                <a:lnTo>
                  <a:pt x="0" y="4277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89428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897210" y="-933172"/>
            <a:ext cx="4408980" cy="3599331"/>
          </a:xfrm>
          <a:custGeom>
            <a:avLst/>
            <a:gdLst/>
            <a:ahLst/>
            <a:cxnLst/>
            <a:rect l="l" t="t" r="r" b="b"/>
            <a:pathLst>
              <a:path w="4408980" h="3599331">
                <a:moveTo>
                  <a:pt x="0" y="0"/>
                </a:moveTo>
                <a:lnTo>
                  <a:pt x="4408979" y="0"/>
                </a:lnTo>
                <a:lnTo>
                  <a:pt x="4408979" y="3599330"/>
                </a:lnTo>
                <a:lnTo>
                  <a:pt x="0" y="3599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3580211" y="1906729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lllustration      - 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Ancrage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86175"/>
            <a:ext cx="10013674" cy="290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Problématique des Données Limitées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Contexte spécifique :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Coût et temps élevés d'acquisition des données (IRM, EEG).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Confidentialité des patients et exigences légales.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Rareté de certaines maladies, limitant les échantillons.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Objectif de la DA :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Utiliser des techniques de Deep Learning (DL) tout en évitant le sur-apprentissage dans un contexte de données limitées.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7246" y="1566325"/>
            <a:ext cx="1156518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615" b="1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La Data A</a:t>
            </a:r>
            <a:r>
              <a:rPr lang="en-US" sz="3615" b="1" u="none" strike="noStrike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ugmentation (DA) en Sciences du Vivant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951" y="2656633"/>
            <a:ext cx="1001367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Problématique des Données Limitées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Contexte spécifique 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897210" y="-933172"/>
            <a:ext cx="4408980" cy="3599331"/>
          </a:xfrm>
          <a:custGeom>
            <a:avLst/>
            <a:gdLst/>
            <a:ahLst/>
            <a:cxnLst/>
            <a:rect l="l" t="t" r="r" b="b"/>
            <a:pathLst>
              <a:path w="4408980" h="3599331">
                <a:moveTo>
                  <a:pt x="0" y="0"/>
                </a:moveTo>
                <a:lnTo>
                  <a:pt x="4408979" y="0"/>
                </a:lnTo>
                <a:lnTo>
                  <a:pt x="4408979" y="3599330"/>
                </a:lnTo>
                <a:lnTo>
                  <a:pt x="0" y="3599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4700908">
            <a:off x="13580211" y="1906729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8" y="0"/>
                </a:lnTo>
                <a:lnTo>
                  <a:pt x="7358178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lllustration      -  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Ancrage      </a:t>
            </a: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    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7246" y="1566325"/>
            <a:ext cx="1156518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615" b="1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La Data A</a:t>
            </a:r>
            <a:r>
              <a:rPr lang="en-US" sz="3615" b="1" u="none" strike="noStrike" spc="108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ugmentation (DA) en Sciences du Vivant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951" y="2656633"/>
            <a:ext cx="10013674" cy="54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7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Imagerie Médicale (IRM, TDM, Rayons X)</a:t>
            </a:r>
          </a:p>
          <a:p>
            <a:pPr marL="518163" lvl="1" indent="-259082" algn="l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Accélération de l'IRM (Problèmes Inverses) :</a:t>
            </a:r>
          </a:p>
          <a:p>
            <a:pPr marL="1036326" lvl="2" indent="-345442" algn="l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Sous-échantillonnage des données pour réduire le coût.</a:t>
            </a:r>
          </a:p>
          <a:p>
            <a:pPr marL="1036326" lvl="2" indent="-345442" algn="l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MRAugment améliore la reconstruction avec peu de données, en maintenant la qualité même avec 10% des données d’entraînement.</a:t>
            </a:r>
          </a:p>
          <a:p>
            <a:pPr marL="518163" lvl="1" indent="-259082" algn="l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Classification et Segmentation :</a:t>
            </a:r>
          </a:p>
          <a:p>
            <a:pPr marL="1036326" lvl="2" indent="-345442" algn="l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Utilisation des GANs et VAEs pour générer des images médicales réalistes.</a:t>
            </a:r>
          </a:p>
          <a:p>
            <a:pPr marL="1036326" lvl="2" indent="-345442" algn="l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Exemples :</a:t>
            </a:r>
          </a:p>
          <a:p>
            <a:pPr marL="1554490" lvl="3" indent="-388622" algn="l">
              <a:lnSpc>
                <a:spcPts val="2880"/>
              </a:lnSpc>
              <a:spcBef>
                <a:spcPct val="0"/>
              </a:spcBef>
              <a:buFont typeface="Arial"/>
              <a:buChar char="￭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Classification des lésions hépatiques avec DCGAN améliore la sensibilité de 78,6% à 85,7%.</a:t>
            </a:r>
          </a:p>
          <a:p>
            <a:pPr marL="1554490" lvl="3" indent="-388622" algn="l">
              <a:lnSpc>
                <a:spcPts val="2880"/>
              </a:lnSpc>
              <a:spcBef>
                <a:spcPct val="0"/>
              </a:spcBef>
              <a:buFont typeface="Arial"/>
              <a:buChar char="￭"/>
            </a:pPr>
            <a:r>
              <a:rPr lang="en-US" sz="2400" spc="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fMRI : Utilisation de CVAE et CWGAN améliore la précision de classification de 3,17% à 3,72%.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endParaRPr lang="en-US" sz="2400" spc="7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7460" y="7837112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4" y="0"/>
                </a:lnTo>
                <a:lnTo>
                  <a:pt x="6235304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10800000">
            <a:off x="13518549" y="-2640388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5" y="0"/>
                </a:lnTo>
                <a:lnTo>
                  <a:pt x="6235305" y="5090276"/>
                </a:lnTo>
                <a:lnTo>
                  <a:pt x="0" y="509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5400000">
            <a:off x="-2045366" y="10111921"/>
            <a:ext cx="6148131" cy="1598514"/>
          </a:xfrm>
          <a:custGeom>
            <a:avLst/>
            <a:gdLst/>
            <a:ahLst/>
            <a:cxnLst/>
            <a:rect l="l" t="t" r="r" b="b"/>
            <a:pathLst>
              <a:path w="6148131" h="1598514">
                <a:moveTo>
                  <a:pt x="0" y="0"/>
                </a:moveTo>
                <a:lnTo>
                  <a:pt x="6148132" y="0"/>
                </a:lnTo>
                <a:lnTo>
                  <a:pt x="6148132" y="1598514"/>
                </a:lnTo>
                <a:lnTo>
                  <a:pt x="0" y="159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 rot="-5400000">
            <a:off x="14185234" y="-1423435"/>
            <a:ext cx="6148131" cy="1598514"/>
          </a:xfrm>
          <a:custGeom>
            <a:avLst/>
            <a:gdLst/>
            <a:ahLst/>
            <a:cxnLst/>
            <a:rect l="l" t="t" r="r" b="b"/>
            <a:pathLst>
              <a:path w="6148131" h="1598514">
                <a:moveTo>
                  <a:pt x="0" y="0"/>
                </a:moveTo>
                <a:lnTo>
                  <a:pt x="6148132" y="0"/>
                </a:lnTo>
                <a:lnTo>
                  <a:pt x="6148132" y="1598514"/>
                </a:lnTo>
                <a:lnTo>
                  <a:pt x="0" y="1598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0521654" y="3283057"/>
            <a:ext cx="2488151" cy="5142073"/>
          </a:xfrm>
          <a:custGeom>
            <a:avLst/>
            <a:gdLst/>
            <a:ahLst/>
            <a:cxnLst/>
            <a:rect l="l" t="t" r="r" b="b"/>
            <a:pathLst>
              <a:path w="2488151" h="5142073">
                <a:moveTo>
                  <a:pt x="0" y="0"/>
                </a:moveTo>
                <a:lnTo>
                  <a:pt x="2488151" y="0"/>
                </a:lnTo>
                <a:lnTo>
                  <a:pt x="2488151" y="5142073"/>
                </a:lnTo>
                <a:lnTo>
                  <a:pt x="0" y="5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35420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3716535" y="3283057"/>
            <a:ext cx="3833277" cy="5142073"/>
          </a:xfrm>
          <a:custGeom>
            <a:avLst/>
            <a:gdLst/>
            <a:ahLst/>
            <a:cxnLst/>
            <a:rect l="l" t="t" r="r" b="b"/>
            <a:pathLst>
              <a:path w="3833277" h="5142073">
                <a:moveTo>
                  <a:pt x="0" y="0"/>
                </a:moveTo>
                <a:lnTo>
                  <a:pt x="3833277" y="0"/>
                </a:lnTo>
                <a:lnTo>
                  <a:pt x="3833277" y="5142073"/>
                </a:lnTo>
                <a:lnTo>
                  <a:pt x="0" y="5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48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lllustration      -       Ancrage      -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62592" y="2294209"/>
            <a:ext cx="346917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8"/>
              </a:lnSpc>
              <a:spcBef>
                <a:spcPct val="0"/>
              </a:spcBef>
            </a:pPr>
            <a:r>
              <a:rPr lang="en-US" sz="4715" b="1" spc="141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0192" y="3943567"/>
            <a:ext cx="8049395" cy="38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573" lvl="1" indent="-336287" algn="l">
              <a:lnSpc>
                <a:spcPts val="6230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Méthodes plus ou moins efficaces </a:t>
            </a:r>
          </a:p>
          <a:p>
            <a:pPr marL="672573" lvl="1" indent="-336287" algn="l">
              <a:lnSpc>
                <a:spcPts val="6230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Augmente le nombre de données</a:t>
            </a:r>
          </a:p>
          <a:p>
            <a:pPr marL="672573" lvl="1" indent="-336287" algn="l">
              <a:lnSpc>
                <a:spcPts val="6230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Augmente la robustesse du modèle</a:t>
            </a:r>
          </a:p>
          <a:p>
            <a:pPr marL="672573" lvl="1" indent="-336287" algn="l">
              <a:lnSpc>
                <a:spcPts val="6230"/>
              </a:lnSpc>
              <a:buFont typeface="Arial"/>
              <a:buChar char="•"/>
            </a:pPr>
            <a:r>
              <a:rPr lang="en-US" sz="3115" spc="93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On peut imaginer combiner plusieurs méthodes pour augmenter davantage</a:t>
            </a:r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12944608" y="6138226"/>
            <a:ext cx="771927" cy="635704"/>
            <a:chOff x="0" y="0"/>
            <a:chExt cx="647700" cy="533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D49E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0650" y="155575"/>
              <a:ext cx="527050" cy="212725"/>
            </a:xfrm>
            <a:prstGeom prst="rect">
              <a:avLst/>
            </a:prstGeom>
          </p:spPr>
          <p:txBody>
            <a:bodyPr lIns="39316" tIns="39316" rIns="39316" bIns="39316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958" y="7282299"/>
            <a:ext cx="6798244" cy="5549839"/>
          </a:xfrm>
          <a:custGeom>
            <a:avLst/>
            <a:gdLst/>
            <a:ahLst/>
            <a:cxnLst/>
            <a:rect l="l" t="t" r="r" b="b"/>
            <a:pathLst>
              <a:path w="6798244" h="5549839">
                <a:moveTo>
                  <a:pt x="0" y="0"/>
                </a:moveTo>
                <a:lnTo>
                  <a:pt x="6798244" y="0"/>
                </a:lnTo>
                <a:lnTo>
                  <a:pt x="6798244" y="5549839"/>
                </a:lnTo>
                <a:lnTo>
                  <a:pt x="0" y="5549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6495484">
            <a:off x="-2082073" y="8643738"/>
            <a:ext cx="7358179" cy="1913126"/>
          </a:xfrm>
          <a:custGeom>
            <a:avLst/>
            <a:gdLst/>
            <a:ahLst/>
            <a:cxnLst/>
            <a:rect l="l" t="t" r="r" b="b"/>
            <a:pathLst>
              <a:path w="7358179" h="1913126">
                <a:moveTo>
                  <a:pt x="0" y="0"/>
                </a:moveTo>
                <a:lnTo>
                  <a:pt x="7358179" y="0"/>
                </a:lnTo>
                <a:lnTo>
                  <a:pt x="7358179" y="1913127"/>
                </a:lnTo>
                <a:lnTo>
                  <a:pt x="0" y="1913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202293"/>
            <a:ext cx="18288000" cy="769760"/>
          </a:xfrm>
          <a:prstGeom prst="rect">
            <a:avLst/>
          </a:prstGeom>
          <a:solidFill>
            <a:srgbClr val="D49E26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963116" y="3241152"/>
            <a:ext cx="9992232" cy="4125268"/>
          </a:xfrm>
          <a:custGeom>
            <a:avLst/>
            <a:gdLst/>
            <a:ahLst/>
            <a:cxnLst/>
            <a:rect l="l" t="t" r="r" b="b"/>
            <a:pathLst>
              <a:path w="9992232" h="4125268">
                <a:moveTo>
                  <a:pt x="0" y="0"/>
                </a:moveTo>
                <a:lnTo>
                  <a:pt x="9992232" y="0"/>
                </a:lnTo>
                <a:lnTo>
                  <a:pt x="9992232" y="4125268"/>
                </a:lnTo>
                <a:lnTo>
                  <a:pt x="0" y="4125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5289657" y="4025940"/>
            <a:ext cx="9665691" cy="315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3195" b="1" spc="95">
                <a:solidFill>
                  <a:srgbClr val="665D5A"/>
                </a:solidFill>
                <a:latin typeface="Roboto Bold"/>
                <a:ea typeface="Roboto Bold"/>
                <a:cs typeface="Roboto Bold"/>
                <a:sym typeface="Roboto Bold"/>
              </a:rPr>
              <a:t>Augmentation de données textuelles</a:t>
            </a:r>
          </a:p>
          <a:p>
            <a:pPr marL="689869" lvl="1" indent="-344934" algn="l">
              <a:lnSpc>
                <a:spcPts val="3834"/>
              </a:lnSpc>
              <a:buFont typeface="Arial"/>
              <a:buChar char="•"/>
            </a:pPr>
            <a:r>
              <a:rPr lang="en-US" sz="3195" spc="95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brassage de phrases</a:t>
            </a:r>
          </a:p>
          <a:p>
            <a:pPr marL="689869" lvl="1" indent="-344934" algn="l">
              <a:lnSpc>
                <a:spcPts val="3834"/>
              </a:lnSpc>
              <a:buFont typeface="Arial"/>
              <a:buChar char="•"/>
            </a:pPr>
            <a:r>
              <a:rPr lang="en-US" sz="3195" spc="95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position des mots</a:t>
            </a:r>
          </a:p>
          <a:p>
            <a:pPr marL="689869" lvl="1" indent="-344934" algn="l">
              <a:lnSpc>
                <a:spcPts val="3834"/>
              </a:lnSpc>
              <a:buFont typeface="Arial"/>
              <a:buChar char="•"/>
            </a:pPr>
            <a:r>
              <a:rPr lang="en-US" sz="3195" spc="95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remplacement par synonymes ou aléatoires</a:t>
            </a:r>
          </a:p>
          <a:p>
            <a:pPr marL="689869" lvl="1" indent="-344934" algn="l">
              <a:lnSpc>
                <a:spcPts val="3834"/>
              </a:lnSpc>
              <a:buFont typeface="Arial"/>
              <a:buChar char="•"/>
            </a:pPr>
            <a:r>
              <a:rPr lang="en-US" sz="3195" spc="95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suppression de mots</a:t>
            </a:r>
          </a:p>
          <a:p>
            <a:pPr algn="l">
              <a:lnSpc>
                <a:spcPts val="7285"/>
              </a:lnSpc>
            </a:pPr>
            <a:r>
              <a:rPr lang="en-US" sz="3195" spc="95">
                <a:solidFill>
                  <a:srgbClr val="665D5A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</a:p>
        </p:txBody>
      </p:sp>
      <p:sp>
        <p:nvSpPr>
          <p:cNvPr id="7" name="Freeform 7"/>
          <p:cNvSpPr/>
          <p:nvPr/>
        </p:nvSpPr>
        <p:spPr>
          <a:xfrm>
            <a:off x="4203669" y="7836796"/>
            <a:ext cx="1291807" cy="934945"/>
          </a:xfrm>
          <a:custGeom>
            <a:avLst/>
            <a:gdLst/>
            <a:ahLst/>
            <a:cxnLst/>
            <a:rect l="l" t="t" r="r" b="b"/>
            <a:pathLst>
              <a:path w="1291807" h="934945">
                <a:moveTo>
                  <a:pt x="0" y="0"/>
                </a:moveTo>
                <a:lnTo>
                  <a:pt x="1291807" y="0"/>
                </a:lnTo>
                <a:lnTo>
                  <a:pt x="1291807" y="934945"/>
                </a:lnTo>
                <a:lnTo>
                  <a:pt x="0" y="934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239996" y="334443"/>
            <a:ext cx="178080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     -      Méthodologie      -      lllustration      -       Ancrage      -     </a:t>
            </a:r>
            <a:r>
              <a: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8694" y="2141809"/>
            <a:ext cx="1206665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8"/>
              </a:lnSpc>
              <a:spcBef>
                <a:spcPct val="0"/>
              </a:spcBef>
            </a:pPr>
            <a:r>
              <a:rPr lang="en-US" sz="4715" b="1" spc="141">
                <a:solidFill>
                  <a:srgbClr val="D49E26"/>
                </a:solidFill>
                <a:latin typeface="Roboto Bold"/>
                <a:ea typeface="Roboto Bold"/>
                <a:cs typeface="Roboto Bold"/>
                <a:sym typeface="Roboto Bold"/>
              </a:rPr>
              <a:t>Ouverture vers d’autres augmentations...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68047" y="7969659"/>
            <a:ext cx="6307948" cy="93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Augmentation de séries temporelles : </a:t>
            </a:r>
          </a:p>
          <a:p>
            <a:pPr marL="582590" lvl="1" indent="-291295" algn="ctr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séries temporelles par interpolation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97964" y="7053488"/>
            <a:ext cx="1716698" cy="55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même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436927" y="-2563109"/>
            <a:ext cx="6235304" cy="5090276"/>
          </a:xfrm>
          <a:custGeom>
            <a:avLst/>
            <a:gdLst/>
            <a:ahLst/>
            <a:cxnLst/>
            <a:rect l="l" t="t" r="r" b="b"/>
            <a:pathLst>
              <a:path w="6235304" h="5090276">
                <a:moveTo>
                  <a:pt x="0" y="0"/>
                </a:moveTo>
                <a:lnTo>
                  <a:pt x="6235304" y="0"/>
                </a:lnTo>
                <a:lnTo>
                  <a:pt x="6235304" y="5090275"/>
                </a:lnTo>
                <a:lnTo>
                  <a:pt x="0" y="509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2837042" y="0"/>
            <a:ext cx="4885335" cy="10287000"/>
            <a:chOff x="0" y="0"/>
            <a:chExt cx="6350000" cy="133711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13371130"/>
            </a:xfrm>
            <a:custGeom>
              <a:avLst/>
              <a:gdLst/>
              <a:ahLst/>
              <a:cxnLst/>
              <a:rect l="l" t="t" r="r" b="b"/>
              <a:pathLst>
                <a:path w="6350000" h="13371130">
                  <a:moveTo>
                    <a:pt x="0" y="12693659"/>
                  </a:moveTo>
                  <a:lnTo>
                    <a:pt x="0" y="677471"/>
                  </a:lnTo>
                  <a:cubicBezTo>
                    <a:pt x="0" y="303079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304862"/>
                    <a:pt x="6350000" y="677471"/>
                  </a:cubicBezTo>
                  <a:lnTo>
                    <a:pt x="6350000" y="12693659"/>
                  </a:lnTo>
                  <a:cubicBezTo>
                    <a:pt x="6350000" y="13068050"/>
                    <a:pt x="6134100" y="13371130"/>
                    <a:pt x="5867400" y="13371130"/>
                  </a:cubicBezTo>
                  <a:lnTo>
                    <a:pt x="482600" y="13371130"/>
                  </a:lnTo>
                  <a:cubicBezTo>
                    <a:pt x="217170" y="13371130"/>
                    <a:pt x="0" y="13068050"/>
                    <a:pt x="0" y="12693659"/>
                  </a:cubicBezTo>
                  <a:close/>
                </a:path>
              </a:pathLst>
            </a:custGeom>
            <a:blipFill>
              <a:blip r:embed="rId4"/>
              <a:stretch>
                <a:fillRect l="-108025" r="-10802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7674608" y="-605429"/>
            <a:ext cx="6148131" cy="1598514"/>
          </a:xfrm>
          <a:custGeom>
            <a:avLst/>
            <a:gdLst/>
            <a:ahLst/>
            <a:cxnLst/>
            <a:rect l="l" t="t" r="r" b="b"/>
            <a:pathLst>
              <a:path w="6148131" h="1598514">
                <a:moveTo>
                  <a:pt x="0" y="0"/>
                </a:moveTo>
                <a:lnTo>
                  <a:pt x="6148131" y="0"/>
                </a:lnTo>
                <a:lnTo>
                  <a:pt x="6148131" y="1598515"/>
                </a:lnTo>
                <a:lnTo>
                  <a:pt x="0" y="1598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560134" y="4346116"/>
            <a:ext cx="8389282" cy="251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9690">
                <a:solidFill>
                  <a:srgbClr val="665D5A"/>
                </a:solidFill>
                <a:latin typeface="Radley"/>
                <a:ea typeface="Radley"/>
                <a:cs typeface="Radley"/>
                <a:sym typeface="Radley"/>
              </a:rPr>
              <a:t>Merci pour votre attention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65D5A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Office PowerPoint</Application>
  <PresentationFormat>Personnalisé</PresentationFormat>
  <Paragraphs>274</Paragraphs>
  <Slides>20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31" baseType="lpstr">
      <vt:lpstr>Radley</vt:lpstr>
      <vt:lpstr>Bricolage Grotesque 28</vt:lpstr>
      <vt:lpstr>Calibri</vt:lpstr>
      <vt:lpstr>Body Grotesque Bold</vt:lpstr>
      <vt:lpstr>Arial</vt:lpstr>
      <vt:lpstr>Body Grotesque Italics</vt:lpstr>
      <vt:lpstr>Roboto</vt:lpstr>
      <vt:lpstr>Open Sans</vt:lpstr>
      <vt:lpstr>Open Sans Bold</vt:lpstr>
      <vt:lpstr>Roboto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cp:lastModifiedBy>Nassima elhilali</cp:lastModifiedBy>
  <cp:revision>2</cp:revision>
  <dcterms:created xsi:type="dcterms:W3CDTF">2006-08-16T00:00:00Z</dcterms:created>
  <dcterms:modified xsi:type="dcterms:W3CDTF">2025-11-17T10:34:42Z</dcterms:modified>
  <dc:identifier>DAG4SVaOc4E</dc:identifier>
</cp:coreProperties>
</file>